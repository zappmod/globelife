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88825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obMain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4320"/>
            <a:ext cx="4754880" cy="5289804"/>
          </a:xfrm>
          <a:prstGeom prst="rect">
            <a:avLst/>
          </a:prstGeom>
        </p:spPr>
      </p:pic>
      <p:pic>
        <p:nvPicPr>
          <p:cNvPr id="4" name="Picture 3" descr="bob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"/>
            <a:ext cx="384048" cy="3947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IBM Bob Premium for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IBM Plex Sans"/>
              </a:rPr>
              <a:t>Bobathon for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62FE"/>
                </a:solidFill>
                <a:latin typeface="IBM Plex Sans"/>
              </a:rPr>
              <a:t>CE Planning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640080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Everything you need to plan and run
a successful Bobathon for Z with your client.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What is a Bobathon for 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30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5252"/>
                </a:solidFill>
                <a:latin typeface="IBM Plex Sans"/>
              </a:rPr>
              <a:t>A structured 1-day hands-on workshop — part of the IBM CE engagement model: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888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25252"/>
                </a:solidFill>
                <a:latin typeface="IBM Plex Sans"/>
              </a:rPr>
              <a:t>The Bobathon sits in the middle — hands-on enablement that builds proof and momentum toward a pilot.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46020"/>
            <a:ext cx="3566160" cy="3657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50088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Custom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1178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9215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IBM CE builds a tailored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689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Uses client's own code &amp;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64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Integrated with client toolchain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639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IBM Plex Sans"/>
              </a:rPr>
              <a:t>Goal: prove Bob works for your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446020"/>
            <a:ext cx="3566160" cy="365760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250088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Bob-a-Thon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81178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9215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1-day hands-on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2689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Developers + Client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164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Guided labs + open experimentation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9639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IBM Plex Sans"/>
              </a:rPr>
              <a:t>Outcome: functional prototype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446020"/>
            <a:ext cx="3566160" cy="365760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0" y="2500884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Pilot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81178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29215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Weekly office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2689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Executive playbacks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6164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Business value KPI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96392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IBM Plex Sans"/>
              </a:rPr>
              <a:t>Quote / proposal based on BVA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How the Labs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7101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25252"/>
                </a:solidFill>
                <a:latin typeface="IBM Plex Sans"/>
              </a:rPr>
              <a:t>Labs 1 and 2 are always required. Labs 3–6 are choose-your-own-adventure.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29C4"/>
                </a:solidFill>
                <a:latin typeface="IBM Plex Sans"/>
              </a:rPr>
              <a:t>ALWAYS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04288"/>
            <a:ext cx="11091672" cy="228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92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777240" cy="1371600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777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146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IBM Plex Sans"/>
              </a:rPr>
              <a:t>Getting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986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IBM Plex Sans"/>
              </a:rPr>
              <a:t>Workspace scan · Agent.md · Data Dictionary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3273552"/>
            <a:ext cx="1188720" cy="256032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32735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~20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5394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92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377440"/>
            <a:ext cx="777240" cy="1371600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777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Lab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5146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IBM Plex Sans"/>
              </a:rPr>
              <a:t>Technical Design Doc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8986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5252"/>
                </a:solidFill>
                <a:latin typeface="IBM Plex Sans"/>
              </a:rPr>
              <a:t>Architecture docs · Business rules in plain English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3273552"/>
            <a:ext cx="1188720" cy="256032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32735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~15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25252"/>
                </a:solidFill>
                <a:latin typeface="IBM Plex Sans"/>
              </a:rPr>
              <a:t>▼  then pick any of: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CHOOSE YOUR ADVENTURE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44568"/>
            <a:ext cx="11091672" cy="228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617720"/>
            <a:ext cx="2697480" cy="34747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6451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Lab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029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BM Plex Sans"/>
              </a:rPr>
              <a:t>Impact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486400"/>
            <a:ext cx="1097280" cy="2560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486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~30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461772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92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64992" y="4617720"/>
            <a:ext cx="2697480" cy="347472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02152" y="46451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Lab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2152" y="5029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BM Plex Sans"/>
              </a:rPr>
              <a:t>Refactoring &amp; Services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2152" y="5486400"/>
            <a:ext cx="1097280" cy="256032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02152" y="5486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~60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81344" y="461772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91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81344" y="4617720"/>
            <a:ext cx="2697480" cy="347472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18504" y="46451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Lab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5029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BM Plex Sans"/>
              </a:rPr>
              <a:t>Spec-Driven Code Gen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18504" y="5486400"/>
            <a:ext cx="1097280" cy="256032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18504" y="5486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~45 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97696" y="461772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5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97696" y="4617720"/>
            <a:ext cx="2697480" cy="347472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34856" y="46451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Lab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4856" y="5029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IBM Plex Sans"/>
              </a:rPr>
              <a:t>UI Modernization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34856" y="5486400"/>
            <a:ext cx="1097280" cy="256032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34856" y="54864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Sans"/>
              </a:rPr>
              <a:t>~45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1571545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525252"/>
                </a:solidFill>
                <a:latin typeface="IBM Plex Sans"/>
              </a:rPr>
              <a:t>Half-day: Labs 1 + 2 + one adventure lab.  Full day: Labs 1 + 2 + two or more adventure labs.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Key Decisions 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Work through these before scoping the event with your client.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40680" cy="32918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Sample Code or Customer Code?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57984"/>
            <a:ext cx="54406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249424"/>
            <a:ext cx="5257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Will attendees use GenApp (provided) or bring their own COBOL workspace? If using customer code or custom use cases, allow minimum 3 weeks — SME time is needed to build and curate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828800"/>
            <a:ext cx="5440680" cy="329184"/>
          </a:xfrm>
          <a:prstGeom prst="rect">
            <a:avLst/>
          </a:prstGeom>
          <a:solidFill>
            <a:srgbClr val="004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88366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Who Are the Participants?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2157984"/>
            <a:ext cx="54406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249424"/>
            <a:ext cx="5257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Hands-on mainframe developers / SAs, or managers? This drives which labs are appropriate and the depth of technical content.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0712"/>
            <a:ext cx="5440680" cy="329184"/>
          </a:xfrm>
          <a:prstGeom prst="rect">
            <a:avLst/>
          </a:prstGeom>
          <a:solidFill>
            <a:srgbClr val="2E4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4655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How Many People?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39896"/>
            <a:ext cx="54406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5257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Ideal: 4–12 developers. More than 15 requires additional CE support. Plan environment provisioning based on headcount.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3410712"/>
            <a:ext cx="5440680" cy="329184"/>
          </a:xfrm>
          <a:prstGeom prst="rect">
            <a:avLst/>
          </a:prstGeom>
          <a:solidFill>
            <a:srgbClr val="128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4655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How Long Is the Event?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6792" y="3739896"/>
            <a:ext cx="54406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831336"/>
            <a:ext cx="5257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All 6 labs = ~3–4 hours of lab time, not including presentations or debrief. Half-day: Labs 1 + 2 + one adventure lab.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92624"/>
            <a:ext cx="5440680" cy="329184"/>
          </a:xfrm>
          <a:prstGeom prst="rect">
            <a:avLst/>
          </a:prstGeom>
          <a:solidFill>
            <a:srgbClr val="521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50474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What Is the Modernization Goal?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54406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413248"/>
            <a:ext cx="5257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Documentation, refactoring, UI modernization, or new code generation? Use this to select which adventure labs (4–6) to run.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792" y="4992624"/>
            <a:ext cx="5440680" cy="329184"/>
          </a:xfrm>
          <a:prstGeom prst="rect">
            <a:avLst/>
          </a:prstGeom>
          <a:solidFill>
            <a:srgbClr val="391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50474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Lead Time — Plan Ahead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6792" y="5321808"/>
            <a:ext cx="5440680" cy="10881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5413248"/>
            <a:ext cx="5257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Minimum 1 week to provision the pp4z instance for GenApp. If using client code or custom use cases, allow at least 3 weeks.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Environment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978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Choose the setup path that fits your client's IT constraints.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59736"/>
            <a:ext cx="3566160" cy="38404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IBM Cloud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20824"/>
            <a:ext cx="1280160" cy="25603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2020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IBM Plex Sans"/>
              </a:rPr>
              <a:t>RECOMMENDED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43784"/>
            <a:ext cx="3566160" cy="28986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93522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589FF"/>
                </a:solidFill>
                <a:latin typeface="IBM Plex Sans"/>
              </a:rPr>
              <a:t>Pros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912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No software install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838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Attendees create a free IBM Cloud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76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Bob Premium accessed via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Best for: most enterprise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616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Setup time: ~10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4573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29C4"/>
                </a:solidFill>
                <a:latin typeface="IBM Plex Sans"/>
              </a:rPr>
              <a:t>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01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Requires internet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943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Cloud account approval may be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459736"/>
            <a:ext cx="3566160" cy="384048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53128" y="251460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Pre-Configured VM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2020824"/>
            <a:ext cx="1280160" cy="256032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204017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IBM Plex Sans"/>
              </a:rPr>
              <a:t>AIR-GAPPED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843784"/>
            <a:ext cx="3566160" cy="28986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293522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589FF"/>
                </a:solidFill>
                <a:latin typeface="IBM Plex Sans"/>
              </a:rPr>
              <a:t>Pros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1912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CE provides ready-to-use VM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4838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No client install permissions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76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Bob + VS Code + GenApp pre-loaded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069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Best for: restricted/regulated environments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45312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29C4"/>
                </a:solidFill>
                <a:latin typeface="IBM Plex Sans"/>
              </a:rPr>
              <a:t>Cons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709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VM distribution logistics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001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Hardware requirements for attendees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2459736"/>
            <a:ext cx="3566160" cy="384048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47888" y="251460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CE-Provided Laptops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60152" y="2041664"/>
            <a:ext cx="1280160" cy="256032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40323" y="2061972"/>
            <a:ext cx="15198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IBM Plex Sans"/>
              </a:rPr>
              <a:t>ZERO CLIENT SETUP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843784"/>
            <a:ext cx="3566160" cy="2862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20" y="293522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589FF"/>
                </a:solidFill>
                <a:latin typeface="IBM Plex Sans"/>
              </a:rPr>
              <a:t>Pros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1912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IBM CE brings laptops pre-loaded with VM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4838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Attendees use CE hardware on the 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776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No client machine or install required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069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Best for: strict IT / no BYOD environments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45312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29C4"/>
                </a:solidFill>
                <a:latin typeface="IBM Plex Sans"/>
              </a:rPr>
              <a:t>Cons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709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Limited quantity — plan headcount early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001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  Coordinate with CE well in advance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684264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Top Questions to Ask the 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434269"/>
            <a:ext cx="11091672" cy="32918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0361"/>
            <a:ext cx="11091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IBM Plex Sans"/>
              </a:rPr>
              <a:t>Code &amp; Codebase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1946333"/>
            <a:ext cx="5431536" cy="2743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82909"/>
            <a:ext cx="5266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Sample Application (GenApp)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220652"/>
            <a:ext cx="5431536" cy="151009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93805"/>
            <a:ext cx="5266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☐  Are you using our provided </a:t>
            </a:r>
            <a:r>
              <a:rPr sz="1100" b="0" i="0" dirty="0" err="1">
                <a:solidFill>
                  <a:srgbClr val="000000"/>
                </a:solidFill>
                <a:latin typeface="IBM Plex Sans"/>
              </a:rPr>
              <a:t>GenApp</a:t>
            </a:r>
            <a:r>
              <a:rPr sz="1100" b="0" i="0" dirty="0">
                <a:solidFill>
                  <a:srgbClr val="000000"/>
                </a:solidFill>
                <a:latin typeface="IBM Plex Sans"/>
              </a:rPr>
              <a:t> sample?</a:t>
            </a:r>
            <a:r>
              <a:rPr lang="en-US" sz="1100" dirty="0">
                <a:solidFill>
                  <a:srgbClr val="000000"/>
                </a:solidFill>
                <a:latin typeface="IBM Plex San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4701"/>
            <a:ext cx="5266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☐  </a:t>
            </a:r>
            <a:r>
              <a:rPr lang="en-US" sz="1100" dirty="0">
                <a:solidFill>
                  <a:srgbClr val="000000"/>
                </a:solidFill>
                <a:latin typeface="IBM Plex Sans"/>
              </a:rPr>
              <a:t>Do your use cases require different sample code ex .</a:t>
            </a:r>
            <a:r>
              <a:rPr lang="en-US" sz="1100" dirty="0" err="1">
                <a:solidFill>
                  <a:srgbClr val="000000"/>
                </a:solidFill>
                <a:latin typeface="IBM Plex Sans"/>
              </a:rPr>
              <a:t>asm</a:t>
            </a:r>
            <a:r>
              <a:rPr lang="en-US" sz="1100" dirty="0">
                <a:solidFill>
                  <a:srgbClr val="000000"/>
                </a:solidFill>
                <a:latin typeface="IBM Plex Sans"/>
              </a:rPr>
              <a:t>?</a:t>
            </a:r>
            <a:endParaRPr sz="1100" b="0" i="0" dirty="0">
              <a:solidFill>
                <a:srgbClr val="000000"/>
              </a:solidFill>
              <a:latin typeface="IBM Plex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798" y="2947871"/>
            <a:ext cx="52669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000000"/>
                </a:solidFill>
                <a:latin typeface="IBM Plex Sans"/>
              </a:rPr>
              <a:t>Best Scenenario: </a:t>
            </a:r>
            <a:r>
              <a:rPr sz="1100" b="1" i="0" dirty="0">
                <a:solidFill>
                  <a:srgbClr val="000000"/>
                </a:solidFill>
                <a:latin typeface="IBM Plex Sans"/>
              </a:rPr>
              <a:t> </a:t>
            </a:r>
            <a:endParaRPr lang="en-US" sz="1100" b="1" i="0" dirty="0">
              <a:solidFill>
                <a:srgbClr val="000000"/>
              </a:solidFill>
              <a:latin typeface="IBM Plex Sans"/>
            </a:endParaRPr>
          </a:p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No extra source prep needed — all labs are pre-tested against </a:t>
            </a:r>
            <a:r>
              <a:rPr sz="1100" b="0" i="0" dirty="0" err="1">
                <a:solidFill>
                  <a:srgbClr val="000000"/>
                </a:solidFill>
                <a:latin typeface="IBM Plex Sans"/>
              </a:rPr>
              <a:t>GenApp</a:t>
            </a:r>
            <a:endParaRPr sz="1100" b="0" i="0" dirty="0">
              <a:solidFill>
                <a:srgbClr val="000000"/>
              </a:solidFill>
              <a:latin typeface="IBM Plex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6208" y="1946333"/>
            <a:ext cx="5431536" cy="274320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982909"/>
            <a:ext cx="5266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Client / Customer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220653"/>
            <a:ext cx="5431536" cy="151009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5936" y="2293805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☐  Is source code accessible in VS Code on the 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561690"/>
            <a:ext cx="52669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☐  How large is the codebase? (# of programs / copybooks)</a:t>
            </a:r>
            <a:endParaRPr lang="en-US" sz="1100" dirty="0">
              <a:solidFill>
                <a:srgbClr val="000000"/>
              </a:solidFill>
              <a:latin typeface="IBM Plex Sans"/>
            </a:endParaRPr>
          </a:p>
          <a:p>
            <a:pPr algn="l"/>
            <a:r>
              <a:rPr lang="en-US" sz="1100" b="0" i="0" dirty="0">
                <a:solidFill>
                  <a:srgbClr val="000000"/>
                </a:solidFill>
                <a:latin typeface="IBM Plex Sans"/>
              </a:rPr>
              <a:t>     *There are size limitations in the local scanners used for </a:t>
            </a:r>
            <a:r>
              <a:rPr lang="en-US" sz="1100" dirty="0" err="1">
                <a:solidFill>
                  <a:srgbClr val="000000"/>
                </a:solidFill>
                <a:latin typeface="IBM Plex Sans"/>
              </a:rPr>
              <a:t>B</a:t>
            </a:r>
            <a:r>
              <a:rPr lang="en-US" sz="1100" b="0" i="0" dirty="0" err="1">
                <a:solidFill>
                  <a:srgbClr val="000000"/>
                </a:solidFill>
                <a:latin typeface="IBM Plex Sans"/>
              </a:rPr>
              <a:t>obathons</a:t>
            </a:r>
            <a:r>
              <a:rPr lang="en-US" sz="1100" b="0" i="0" dirty="0">
                <a:solidFill>
                  <a:srgbClr val="000000"/>
                </a:solidFill>
                <a:latin typeface="IBM Plex Sans"/>
              </a:rPr>
              <a:t>.</a:t>
            </a:r>
            <a:endParaRPr sz="1100" b="0" i="0" dirty="0">
              <a:solidFill>
                <a:srgbClr val="000000"/>
              </a:solidFill>
              <a:latin typeface="IBM Plex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45936" y="2991967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☐  Is the code COBOL, PL/I, HLASM, or a mix?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269504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☐  Allow 3+ weeks lead time — SME needed to curate 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41064"/>
            <a:ext cx="3544824" cy="329184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986784"/>
            <a:ext cx="3380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Scope &amp; Goals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70248"/>
            <a:ext cx="3544824" cy="20025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379976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What is your #1 modernization priority right now?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55464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Are CICS and DB2 in scope for this event?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30952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Is UI modernization a goal, or backend analysis only?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3941064"/>
            <a:ext cx="3544824" cy="329184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1792" y="3986784"/>
            <a:ext cx="3380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Environment &amp; Prerequisites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2064" y="4270248"/>
            <a:ext cx="3544824" cy="20025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1792" y="4379976"/>
            <a:ext cx="3380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IBM Plex Sans"/>
              </a:rPr>
              <a:t>☐  Do attendees have admin rights to install </a:t>
            </a:r>
            <a:r>
              <a:rPr lang="en-US" sz="1200" b="0" i="0" dirty="0">
                <a:solidFill>
                  <a:srgbClr val="000000"/>
                </a:solidFill>
                <a:latin typeface="IBM Plex Sans"/>
              </a:rPr>
              <a:t>Java, Bob, and potentially Maven</a:t>
            </a:r>
            <a:r>
              <a:rPr sz="1200" b="0" i="0" dirty="0">
                <a:solidFill>
                  <a:srgbClr val="000000"/>
                </a:solidFill>
                <a:latin typeface="IBM Plex Sans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1792" y="4855464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Can they create an IBM Cloud account, or is that blocked?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1792" y="5330952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Any air-gapped or no-internet restrictions?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1792" y="5806440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Java 21 pre-installed — any org-approved distribution is fine.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5488" y="3941064"/>
            <a:ext cx="3544824" cy="329184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216" y="3986784"/>
            <a:ext cx="3380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BM Plex Sans"/>
              </a:rPr>
              <a:t>Team &amp; Constraints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5488" y="4270248"/>
            <a:ext cx="3544824" cy="20025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216" y="4379976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Is a COBOL expert or z team member available on the day?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5216" y="4855464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What is the COBOL experience level of attendees?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5216" y="5330952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☐  Are there AI tool usage policies or approval requirements?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5216" y="5806440"/>
            <a:ext cx="3380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IBM Plex Sans"/>
              </a:rPr>
              <a:t>☐  Who is the executive sponsor and what are their KPIs?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Lab Reference —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One row per lab. Use this as a quick reference when planning which labs to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2920" cy="329184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874520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828800"/>
            <a:ext cx="1737360" cy="32918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187452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828800"/>
            <a:ext cx="1691640" cy="32918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3784" y="1874520"/>
            <a:ext cx="1618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868680" cy="32918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187452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Duration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28800"/>
            <a:ext cx="960120" cy="32918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4104" y="187452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Difficulty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5330952" cy="32918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187452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BM Plex Sans"/>
              </a:rPr>
              <a:t>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50292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" y="2267712"/>
            <a:ext cx="411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2157984"/>
            <a:ext cx="173736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6424" y="226771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Getting Started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2157984"/>
            <a:ext cx="169164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43784" y="226771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Z Architect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157984"/>
            <a:ext cx="86868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267712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15–20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2157984"/>
            <a:ext cx="96012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04104" y="2267712"/>
            <a:ext cx="868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2FE"/>
                </a:solidFill>
                <a:latin typeface="IBM Plex Sans"/>
              </a:rPr>
              <a:t>Beginner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57984"/>
            <a:ext cx="5330952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4224" y="2267712"/>
            <a:ext cx="5239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Scan the workspace, initialise Agent.md, and generate the Data Dictionary. Must run first — every other lab depends on this.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16352"/>
            <a:ext cx="5029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4" y="2926080"/>
            <a:ext cx="411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2816352"/>
            <a:ext cx="1737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6424" y="292608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Technical Design Doc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2816352"/>
            <a:ext cx="16916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3784" y="292608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Z Architect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2816352"/>
            <a:ext cx="868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35424" y="2926080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10–15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2816352"/>
            <a:ext cx="9601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04104" y="2926080"/>
            <a:ext cx="868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2FE"/>
                </a:solidFill>
                <a:latin typeface="IBM Plex Sans"/>
              </a:rPr>
              <a:t>Beginner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816352"/>
            <a:ext cx="5330952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64224" y="2926080"/>
            <a:ext cx="5239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Generate a full technical design document with plain-English business rules and Mermaid architecture diagrams.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474720"/>
            <a:ext cx="50292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3504" y="3584448"/>
            <a:ext cx="411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" y="3474720"/>
            <a:ext cx="173736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06424" y="358444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Impact Analysis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88920" y="3474720"/>
            <a:ext cx="169164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43784" y="3584448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Z Architect → Z Code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3474720"/>
            <a:ext cx="86868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35424" y="3584448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30 min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9240" y="3474720"/>
            <a:ext cx="96012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04104" y="3584448"/>
            <a:ext cx="868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2FE"/>
                </a:solidFill>
                <a:latin typeface="IBM Plex Sans"/>
              </a:rPr>
              <a:t>Beginner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474720"/>
            <a:ext cx="5330952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64224" y="3584448"/>
            <a:ext cx="5239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Identify all programs affected by a field change, produce a risk-ranked rollout plan, and implement updates automatically.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133088"/>
            <a:ext cx="5029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3504" y="4242816"/>
            <a:ext cx="411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1560" y="4133088"/>
            <a:ext cx="1737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06424" y="424281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Refactoring &amp; Services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88920" y="4133088"/>
            <a:ext cx="16916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43784" y="4242816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Z Code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4133088"/>
            <a:ext cx="868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35424" y="4242816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60 min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4133088"/>
            <a:ext cx="9601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18830" y="4264506"/>
            <a:ext cx="10392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929C4"/>
                </a:solidFill>
                <a:latin typeface="IBM Plex Sans"/>
              </a:rPr>
              <a:t>Intermediate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4133088"/>
            <a:ext cx="5330952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64224" y="4242816"/>
            <a:ext cx="5239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Extract shared validation logic from a monolithic COBOL program into a reusable CICS LINK service program.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791456"/>
            <a:ext cx="50292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3504" y="4901184"/>
            <a:ext cx="411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51560" y="4791456"/>
            <a:ext cx="173736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06424" y="4901184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Spec-Driven Code Gen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88920" y="4791456"/>
            <a:ext cx="169164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843784" y="4901184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Z Architect → Z Code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80560" y="4791456"/>
            <a:ext cx="86868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35424" y="4901184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45 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49240" y="4791456"/>
            <a:ext cx="960120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08198" y="4901184"/>
            <a:ext cx="10604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929C4"/>
                </a:solidFill>
                <a:latin typeface="IBM Plex Sans"/>
              </a:rPr>
              <a:t>Intermediate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4791456"/>
            <a:ext cx="5330952" cy="658368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64224" y="4901184"/>
            <a:ext cx="5239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Derive coding standards from the existing codebase, then generate a complete CICS COBOL program from a plain-English spec.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5449824"/>
            <a:ext cx="5029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3504" y="5559552"/>
            <a:ext cx="411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1560" y="5449824"/>
            <a:ext cx="173736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106424" y="555955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IBM Plex Sans"/>
              </a:rPr>
              <a:t>UI Modernization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5449824"/>
            <a:ext cx="16916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843784" y="55595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Z Architect → Z Code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80560" y="5449824"/>
            <a:ext cx="868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35424" y="5559552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45 min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49240" y="5449824"/>
            <a:ext cx="9601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308198" y="5584359"/>
            <a:ext cx="10817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929C4"/>
                </a:solidFill>
                <a:latin typeface="IBM Plex Sans"/>
              </a:rPr>
              <a:t>Intermediate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5449824"/>
            <a:ext cx="5330952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64224" y="5559552"/>
            <a:ext cx="5239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Analyse CICS BMS maps, generate a React/Angular frontend + Spring Boot backend, and run the app locally.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Using GenApp — The Sample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GenApp is the fastest path to a Bobathon — pre-tested against all 6 labs, no setup surprises, ideal for first-time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Why use GenApp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21992"/>
            <a:ext cx="512064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Known-good — all labs are tested and verified against GenApp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Full CICS + DB2 + COBOL stack — covers every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363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Program naming is clean and consistent (LG-prefix)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387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Scan always succeeds — outputs are predictable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410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IBM Plex Sans"/>
              </a:rPr>
              <a:t>  —  Provided as .zip — extract and open folder in Bob</a:t>
            </a:r>
          </a:p>
        </p:txBody>
      </p:sp>
      <p:pic>
        <p:nvPicPr>
          <p:cNvPr id="13" name="Picture 12" descr="BobMain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6240"/>
            <a:ext cx="1920240" cy="21362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1920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Key Programs  (LG-prefix convention)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221992"/>
            <a:ext cx="5760720" cy="1828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2331720"/>
            <a:ext cx="5760720" cy="393192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53328" y="23957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LGDPDB01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3957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Policy Delete — DB2 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743200"/>
            <a:ext cx="57607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3328" y="28072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LGAPDB01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8072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Policy Add — DB2 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154680"/>
            <a:ext cx="5760720" cy="393192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53328" y="32186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LGUPDB01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21868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Policy Update — DB2 operations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566160"/>
            <a:ext cx="57607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53328" y="363016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LGIPDB01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6301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Policy Inquiry — DB2 operations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977640"/>
            <a:ext cx="5760720" cy="393192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3328" y="40416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LGACDB01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0416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Account — DB2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389120"/>
            <a:ext cx="57607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53328" y="44531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LGUCDB01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4531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Customer Update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800600"/>
            <a:ext cx="5760720" cy="393192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53328" y="48646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LGICUS01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8646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Customer Inquiry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5212080"/>
            <a:ext cx="57607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53328" y="52760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LGPOLVAL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27608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Policy Validation Service (extracted)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623560"/>
            <a:ext cx="5760720" cy="393192"/>
          </a:xfrm>
          <a:prstGeom prst="rect">
            <a:avLst/>
          </a:prstGeom>
          <a:solidFill>
            <a:srgbClr val="F4F4F4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53328" y="568756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LGERROR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6875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Error Logging Service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6035040"/>
            <a:ext cx="57607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3328" y="60990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IBM Plex Sans"/>
              </a:rPr>
              <a:t>LGRENPOL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60990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Renewal Policy (spec-driven example)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CE Tips &amp; Planning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304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25252"/>
                </a:solidFill>
                <a:latin typeface="IBM Plex Sans"/>
              </a:rPr>
              <a:t>Confirm these before you commit to a date with the client.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864" cy="1920240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929C4"/>
                </a:solidFill>
                <a:latin typeface="IBM Plex Sans"/>
              </a:rPr>
              <a:t>Lead Time — Minimum 1 Week (GenApp)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06624"/>
            <a:ext cx="33101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Provisioning a pp4z instance takes at least 1 week. If using GenApp and standard labs, start the request immediately after scoping. Do not commit to a date until this is confirmed.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2860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286000"/>
            <a:ext cx="54864" cy="1920240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929C4"/>
                </a:solidFill>
                <a:latin typeface="IBM Plex Sans"/>
              </a:rPr>
              <a:t>Custom Content or Client Code — 3+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06624"/>
            <a:ext cx="33101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If the client wants their own code or custom use cases, an SME must build and curate that content before the event. Allow a minimum of 3 weeks for this preparation.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286000"/>
            <a:ext cx="54864" cy="1920240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929C4"/>
                </a:solidFill>
                <a:latin typeface="IBM Plex Sans"/>
              </a:rPr>
              <a:t>Java 21 Must Be Pre-Installed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06624"/>
            <a:ext cx="331012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Attendees must have Java 21 installed before the event. They do not need the IBM distribution — any Java 21 version approved through their organisation's standard software assets is fine. Confirm this with the client IT contact in advance.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1109167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54864" cy="1005840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35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89FF"/>
                </a:solidFill>
                <a:latin typeface="IBM Plex Sans"/>
              </a:rPr>
              <a:t>COBOL Expert on the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91456"/>
            <a:ext cx="10835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Ensure a COBOL expert or z team member is present to support attendees. They unblock questions that Bob cannot answer about proprietary code patterns or system-specific </a:t>
            </a:r>
            <a:r>
              <a:rPr sz="1100" b="0" i="0" dirty="0" err="1">
                <a:solidFill>
                  <a:srgbClr val="000000"/>
                </a:solidFill>
                <a:latin typeface="IBM Plex Sans"/>
              </a:rPr>
              <a:t>behaviour</a:t>
            </a:r>
            <a:r>
              <a:rPr sz="1100" b="0" i="0" dirty="0">
                <a:solidFill>
                  <a:srgbClr val="000000"/>
                </a:solidFill>
                <a:latin typeface="IBM Plex Sans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091672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IBM Plex Sans"/>
              </a:rPr>
              <a:t>What the Day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IBM Plex Sans"/>
              </a:rPr>
              <a:t>A structured day of guided labs, hands-on experimentation, and real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109167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54074" y="3602736"/>
            <a:ext cx="237744" cy="2377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7186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9:00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406" y="1874520"/>
            <a:ext cx="1783080" cy="31089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846" y="19202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Morning Kickoff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406" y="2185416"/>
            <a:ext cx="17830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999" y="2248418"/>
            <a:ext cx="18486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Welcome &amp; introductions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83" y="2576596"/>
            <a:ext cx="18126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Bob overview + 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668" y="2880360"/>
            <a:ext cx="17007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Set up workspaces (20 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2686" y="3602736"/>
            <a:ext cx="237744" cy="237744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5798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9:30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30018" y="4178808"/>
            <a:ext cx="1783080" cy="310896"/>
          </a:xfrm>
          <a:prstGeom prst="rect">
            <a:avLst/>
          </a:prstGeom>
          <a:solidFill>
            <a:srgbClr val="692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21458" y="42245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Foundation 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0018" y="4489704"/>
            <a:ext cx="17830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21458" y="4562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Technical Design Doc (15 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1458" y="49651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Impact Analysis (30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2314" y="540767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Q&amp;A + exploration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1298" y="3602736"/>
            <a:ext cx="237744" cy="237744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4410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12:00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8630" y="1874520"/>
            <a:ext cx="1888236" cy="31089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32910" y="18979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IBM Plex Sans"/>
              </a:rPr>
              <a:t>Lunch Break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8630" y="2185416"/>
            <a:ext cx="1888236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23978" y="2248124"/>
            <a:ext cx="20351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Break &amp; informal discussion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99910" y="3602736"/>
            <a:ext cx="237744" cy="237744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3022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1:00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7242" y="4178808"/>
            <a:ext cx="1874520" cy="310896"/>
          </a:xfrm>
          <a:prstGeom prst="rect">
            <a:avLst/>
          </a:prstGeom>
          <a:solidFill>
            <a:srgbClr val="491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8682" y="4224528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Your Priority Use Case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7242" y="4489704"/>
            <a:ext cx="18745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8682" y="45628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Choose 1–2 from: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8682" y="4837176"/>
            <a:ext cx="1783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25252"/>
                </a:solidFill>
                <a:latin typeface="IBM Plex Sans"/>
              </a:rPr>
              <a:t>  Refactoring &amp;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8682" y="5111496"/>
            <a:ext cx="17571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25252"/>
                </a:solidFill>
                <a:latin typeface="IBM Plex Sans"/>
              </a:rPr>
              <a:t>  Spec-Driven Code 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8682" y="5385816"/>
            <a:ext cx="18394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25252"/>
                </a:solidFill>
                <a:latin typeface="IBM Plex Sans"/>
              </a:rPr>
              <a:t>  UI: Green Screen to Web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48522" y="3602736"/>
            <a:ext cx="237744" cy="237744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1634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3:30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75854" y="1874520"/>
            <a:ext cx="1783080" cy="310896"/>
          </a:xfrm>
          <a:prstGeom prst="rect">
            <a:avLst/>
          </a:prstGeom>
          <a:solidFill>
            <a:srgbClr val="45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67294" y="1920240"/>
            <a:ext cx="17571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Open Experimentation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75854" y="2185416"/>
            <a:ext cx="17830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67294" y="22585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Apply Bob to your own 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7294" y="2688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IBM CE on hand to assist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8150" y="312437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Build something real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97134" y="3602736"/>
            <a:ext cx="237744" cy="23774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50246" y="38679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5252"/>
                </a:solidFill>
                <a:latin typeface="IBM Plex Sans"/>
              </a:rPr>
              <a:t>4:30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4466" y="4178808"/>
            <a:ext cx="1783080" cy="31089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915906" y="42245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Wrap Up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24466" y="4489704"/>
            <a:ext cx="17830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15906" y="4562856"/>
            <a:ext cx="1691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Team demo / showcase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5906" y="48371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Capture open items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15906" y="51114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00000"/>
                </a:solidFill>
                <a:latin typeface="IBM Plex Sans"/>
              </a:rPr>
              <a:t>Discuss pilot pathway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15906" y="53858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IBM Plex Sans"/>
              </a:rPr>
              <a:t>Next steps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6492240"/>
            <a:ext cx="11091672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654710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Created by Sophie Harrison &amp; Renate Hamrick — Application Modernization for Z team  ·  bob.ibm.com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1726</Words>
  <Application>Microsoft Macintosh PowerPoint</Application>
  <PresentationFormat>Custom</PresentationFormat>
  <Paragraphs>247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Renate Hamrick</cp:lastModifiedBy>
  <cp:revision>5</cp:revision>
  <dcterms:created xsi:type="dcterms:W3CDTF">2013-01-27T09:14:16Z</dcterms:created>
  <dcterms:modified xsi:type="dcterms:W3CDTF">2026-08-03T16:59:11Z</dcterms:modified>
  <cp:category/>
</cp:coreProperties>
</file>